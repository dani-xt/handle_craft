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embeddedFontLst>
    <p:embeddedFont>
      <p:font typeface="Roboto" panose="02000000000000000000" pitchFamily="2" charset="0"/>
      <p:regular r:id="rId12"/>
      <p:italic r:id="rId13"/>
    </p:embeddedFont>
    <p:embeddedFont>
      <p:font typeface="Roboto Bold" panose="02000000000000000000" charset="0"/>
      <p:regular r:id="rId14"/>
    </p:embeddedFont>
    <p:embeddedFont>
      <p:font typeface="Roboto Mono Medium" panose="00000009000000000000" pitchFamily="49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3495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5.jpe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jpeg"/><Relationship Id="rId7" Type="http://schemas.openxmlformats.org/officeDocument/2006/relationships/image" Target="../media/image15.svg"/><Relationship Id="rId12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5" Type="http://schemas.openxmlformats.org/officeDocument/2006/relationships/image" Target="../media/image13.sv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sv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sv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png"/><Relationship Id="rId14" Type="http://schemas.openxmlformats.org/officeDocument/2006/relationships/image" Target="../media/image3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917377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kern="0" spc="-112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HANDLE KRAFT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1791494"/>
            <a:ext cx="6296860" cy="3260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100" kern="0" spc="-154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Plataforma Web de Gestión Comercial y Operacional</a:t>
            </a:r>
            <a:endParaRPr lang="en-US" sz="5100" dirty="0"/>
          </a:p>
        </p:txBody>
      </p:sp>
      <p:sp>
        <p:nvSpPr>
          <p:cNvPr id="5" name="Text 2"/>
          <p:cNvSpPr/>
          <p:nvPr/>
        </p:nvSpPr>
        <p:spPr>
          <a:xfrm>
            <a:off x="661475" y="5335687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Digitalización y optimización de ventas, cotizaciones, pedidos, inventario y procesos operacionales.</a:t>
            </a:r>
            <a:endParaRPr lang="en-US" sz="145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5A879F0-C4C1-687B-ED00-D9EF913B26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8581" y="6331021"/>
            <a:ext cx="1966536" cy="51202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89756"/>
            <a:ext cx="982539" cy="287139"/>
          </a:xfrm>
          <a:prstGeom prst="roundRect">
            <a:avLst>
              <a:gd name="adj" fmla="val 7899"/>
            </a:avLst>
          </a:prstGeom>
          <a:solidFill>
            <a:srgbClr val="3D4D00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646410"/>
            <a:ext cx="136531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CONTEXTO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95250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kern="0" spc="-112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¿Qué es Handle Kraft?</a:t>
            </a:r>
            <a:endParaRPr lang="en-US" sz="3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091432"/>
            <a:ext cx="6903269" cy="391189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32251" y="1996678"/>
            <a:ext cx="3504219" cy="41015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Handle Kraft es un emprendimiento dedicado a la </a:t>
            </a:r>
            <a:r>
              <a:rPr lang="en-US" sz="1450" b="1" kern="0" spc="-15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comercialización de bolsas de papel kraft</a:t>
            </a:r>
            <a:r>
              <a:rPr lang="en-US" sz="1450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tanto estándar como personalizadas, orientado a emprendedores, pequeños comercios y negocios que requieren packaging para sus productos.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Actualmente, la interacción con clientes se realiza mediante </a:t>
            </a:r>
            <a:r>
              <a:rPr lang="en-US" sz="1450" b="1" kern="0" spc="-15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WhatsApp, Instagram y correo electrónico</a:t>
            </a:r>
            <a:r>
              <a:rPr lang="en-US" sz="1450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consultando principalmente por productos, tamaños, cantidades, precios, disponibilidad y personalización.</a:t>
            </a:r>
            <a:endParaRPr lang="en-US" sz="145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B56864C-02B0-62B5-5DB0-1E94E230A7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8581" y="6331021"/>
            <a:ext cx="1966536" cy="5120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9807"/>
            <a:ext cx="591329" cy="143470"/>
          </a:xfrm>
          <a:prstGeom prst="roundRect">
            <a:avLst>
              <a:gd name="adj" fmla="val 7905"/>
            </a:avLst>
          </a:prstGeom>
          <a:solidFill>
            <a:srgbClr val="3D4D00"/>
          </a:solidFill>
          <a:ln/>
        </p:spPr>
      </p:sp>
      <p:sp>
        <p:nvSpPr>
          <p:cNvPr id="3" name="Text 1"/>
          <p:cNvSpPr/>
          <p:nvPr/>
        </p:nvSpPr>
        <p:spPr>
          <a:xfrm>
            <a:off x="718127" y="548084"/>
            <a:ext cx="1087609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50" kern="0" spc="-7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DIAGNÓSTICO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661475" y="682129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56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Situación actual y problema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1048246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0" spc="-7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procesos actuales dependen fuertemente de gestión manual y múltiples canales de comunicación, generando ineficiencias operativas.</a:t>
            </a:r>
            <a:endParaRPr lang="en-US" sz="7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267817"/>
            <a:ext cx="5319083" cy="5319216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17487" y="3324523"/>
            <a:ext cx="2635879" cy="52258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75439" y="3431679"/>
            <a:ext cx="237077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kern="0" spc="-28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Información fragmentada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6375439" y="3626545"/>
            <a:ext cx="2370773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0" spc="-7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Distribuida entre distintos canales sin centralización.</a:t>
            </a:r>
            <a:endParaRPr lang="en-US" sz="7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00592" y="3324523"/>
            <a:ext cx="2635978" cy="52258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058544" y="3431679"/>
            <a:ext cx="237087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kern="0" spc="-28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Cotizaciones manuales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9058544" y="3626545"/>
            <a:ext cx="2370872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0" spc="-7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Proceso lento y dependiente de atención directa.</a:t>
            </a:r>
            <a:endParaRPr lang="en-US" sz="7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17487" y="3894336"/>
            <a:ext cx="2635879" cy="63599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375439" y="4001492"/>
            <a:ext cx="237077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kern="0" spc="-28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Escasa trazabilidad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6375439" y="4196358"/>
            <a:ext cx="2370773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0" spc="-7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Dificultad para centralizar productos, clientes y pedidos.</a:t>
            </a:r>
            <a:endParaRPr lang="en-US" sz="7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00592" y="3894336"/>
            <a:ext cx="2635978" cy="63599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058544" y="4001492"/>
            <a:ext cx="237087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kern="0" spc="-28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Limitación de escala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9058544" y="4196358"/>
            <a:ext cx="2370872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0" spc="-7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Alto volumen de operaciones difícil de gestionar manualmente.</a:t>
            </a:r>
            <a:endParaRPr lang="en-US" sz="700" dirty="0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CB3B2776-3EB6-85CA-CD9D-54287FDC8E1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18581" y="6331021"/>
            <a:ext cx="1966536" cy="5120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9807"/>
            <a:ext cx="465721" cy="143470"/>
          </a:xfrm>
          <a:prstGeom prst="roundRect">
            <a:avLst>
              <a:gd name="adj" fmla="val 7905"/>
            </a:avLst>
          </a:prstGeom>
          <a:solidFill>
            <a:srgbClr val="3D4D00"/>
          </a:solidFill>
          <a:ln/>
        </p:spPr>
      </p:sp>
      <p:sp>
        <p:nvSpPr>
          <p:cNvPr id="3" name="Text 1"/>
          <p:cNvSpPr/>
          <p:nvPr/>
        </p:nvSpPr>
        <p:spPr>
          <a:xfrm>
            <a:off x="718127" y="548084"/>
            <a:ext cx="962001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50" kern="0" spc="-7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SOLUCIÓN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661475" y="682129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56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Solución propuesta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1048246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0" spc="-7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Una </a:t>
            </a:r>
            <a:r>
              <a:rPr lang="en-US" sz="700" b="1" kern="0" spc="-7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plataforma web integral</a:t>
            </a:r>
            <a:r>
              <a:rPr lang="en-US" sz="700" kern="0" spc="-7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que conecta al cliente con la operación interna de Handle Kraft, centralizando y automatizando sus procesos clave.</a:t>
            </a:r>
            <a:endParaRPr lang="en-US" sz="7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4495" y="1105771"/>
            <a:ext cx="7342704" cy="5828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17586" y="3835207"/>
            <a:ext cx="1336832" cy="611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kern="0" spc="-58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Plataforma central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732682" y="1934351"/>
            <a:ext cx="1988775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kern="0" spc="-58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Cliente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732682" y="2326988"/>
            <a:ext cx="1988775" cy="183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Catálogo → Cotización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417772" y="1781508"/>
            <a:ext cx="1988776" cy="611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kern="0" spc="-58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Operación Interna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3417772" y="2479831"/>
            <a:ext cx="1988776" cy="183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Proveedores externos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417772" y="5569974"/>
            <a:ext cx="1988776" cy="611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kern="0" spc="-58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Operación Interna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3417772" y="6268296"/>
            <a:ext cx="1988776" cy="366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Administración → Inventario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732682" y="5722817"/>
            <a:ext cx="1988775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kern="0" spc="-58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Cliente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6732682" y="6115453"/>
            <a:ext cx="1988775" cy="366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Seguimiento del pedido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450007" y="3755559"/>
            <a:ext cx="2032250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kern="0" spc="-58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Cliente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7450007" y="4148196"/>
            <a:ext cx="2032250" cy="366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Personalización → Pedido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2689579" y="3613585"/>
            <a:ext cx="2032250" cy="611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kern="0" spc="-58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Operación Interna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2689579" y="4311907"/>
            <a:ext cx="2032250" cy="366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Producción → Compras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61475" y="7173119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0" spc="-7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Una sola plataforma para conectar al cliente con la operación interna de Handle Kraft.</a:t>
            </a:r>
            <a:endParaRPr lang="en-US" sz="700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1D8EC2DD-F6FC-00B0-5200-A007EA341E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8581" y="6331021"/>
            <a:ext cx="1966536" cy="5120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3360" y="534888"/>
            <a:ext cx="702253" cy="201811"/>
          </a:xfrm>
          <a:prstGeom prst="roundRect">
            <a:avLst>
              <a:gd name="adj" fmla="val 7903"/>
            </a:avLst>
          </a:prstGeom>
          <a:solidFill>
            <a:srgbClr val="3D4D00"/>
          </a:solidFill>
          <a:ln/>
        </p:spPr>
      </p:sp>
      <p:sp>
        <p:nvSpPr>
          <p:cNvPr id="4" name="Text 1"/>
          <p:cNvSpPr/>
          <p:nvPr/>
        </p:nvSpPr>
        <p:spPr>
          <a:xfrm>
            <a:off x="5313031" y="574675"/>
            <a:ext cx="1152496" cy="122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kern="0" spc="-1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OBJETIVOS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233360" y="774005"/>
            <a:ext cx="6296860" cy="415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kern="0" spc="-78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Objetivos del proyecto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32686" y="1434505"/>
            <a:ext cx="6097534" cy="543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kern="0" spc="-1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Desarrollar e implementar una plataforma web que permita centralizar y optimizar los procesos de venta, cotización, personalización y gestión de pedidos, mejorando la eficiencia operativa y la experiencia del cliente.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233360" y="1329432"/>
            <a:ext cx="19050" cy="753368"/>
          </a:xfrm>
          <a:prstGeom prst="roundRect">
            <a:avLst>
              <a:gd name="adj" fmla="val 49999"/>
            </a:avLst>
          </a:prstGeom>
          <a:solidFill>
            <a:srgbClr val="DCFF50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2187873"/>
            <a:ext cx="332176" cy="332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33360" y="2636838"/>
            <a:ext cx="6296860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-39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Centralizar información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233360" y="2900462"/>
            <a:ext cx="6296860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kern="0" spc="-1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 único repositorio comercial y operacional.</a:t>
            </a:r>
            <a:endParaRPr lang="en-US" sz="10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3268365"/>
            <a:ext cx="332176" cy="33218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233360" y="3717330"/>
            <a:ext cx="6296860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-39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Automatizar cotizaciones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5233360" y="3980954"/>
            <a:ext cx="6296860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kern="0" spc="-1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Cálculo automático según producto y cantidad.</a:t>
            </a:r>
            <a:endParaRPr lang="en-US" sz="10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33360" y="4348857"/>
            <a:ext cx="332176" cy="33218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233360" y="4797822"/>
            <a:ext cx="6296860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-39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Gestionar pedidos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5233360" y="5061446"/>
            <a:ext cx="6296860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kern="0" spc="-1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Seguimiento y trazabilidad en tiempo real.</a:t>
            </a:r>
            <a:endParaRPr lang="en-US" sz="10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233360" y="5429349"/>
            <a:ext cx="332176" cy="33218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233360" y="5878314"/>
            <a:ext cx="6296860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-39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Autonomía del cliente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5233360" y="6141938"/>
            <a:ext cx="6296860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kern="0" spc="-1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Experiencia de compra independiente y ágil.</a:t>
            </a:r>
            <a:endParaRPr lang="en-US" sz="1000" dirty="0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0D9B323C-0AE5-B6C1-FEDF-0760C506403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18581" y="6331021"/>
            <a:ext cx="1966536" cy="5120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996752"/>
            <a:ext cx="877766" cy="287139"/>
          </a:xfrm>
          <a:prstGeom prst="roundRect">
            <a:avLst>
              <a:gd name="adj" fmla="val 7899"/>
            </a:avLst>
          </a:prstGeom>
          <a:solidFill>
            <a:srgbClr val="3D4D00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1053405"/>
            <a:ext cx="126054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ALCANCE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35949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kern="0" spc="-112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Alcance funcional de la plataforma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525350" y="2233613"/>
            <a:ext cx="5476043" cy="3627636"/>
          </a:xfrm>
          <a:prstGeom prst="roundRect">
            <a:avLst>
              <a:gd name="adj" fmla="val 782"/>
            </a:avLst>
          </a:prstGeom>
          <a:solidFill>
            <a:srgbClr val="DCFF50"/>
          </a:solidFill>
          <a:ln/>
        </p:spPr>
      </p:sp>
      <p:sp>
        <p:nvSpPr>
          <p:cNvPr id="6" name="Text 4"/>
          <p:cNvSpPr/>
          <p:nvPr/>
        </p:nvSpPr>
        <p:spPr>
          <a:xfrm>
            <a:off x="714357" y="2422624"/>
            <a:ext cx="5098029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56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🛒</a:t>
            </a:r>
            <a:r>
              <a:rPr lang="en-US" sz="1850" kern="0" spc="-56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 Área Cliente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714357" y="2913261"/>
            <a:ext cx="5098029" cy="2881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1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Registro e inicio de sesión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1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Catálogo de productos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1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Consulta de tamaños y características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1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Selección de cantidades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1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Cotización y personalización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1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Generación de pedidos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1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Consulta de estados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1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Historial de pedidos y diseños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332776" y="2422624"/>
            <a:ext cx="5203794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56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⚙️</a:t>
            </a:r>
            <a:r>
              <a:rPr lang="en-US" sz="1850" kern="0" spc="-56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 Administración y Operación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332776" y="2913261"/>
            <a:ext cx="5203794" cy="25134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Gestión de productos, categorías y precios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Gestión de clientes y pedidos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Estados de órdenes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Inventario y producción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Proveedores y órdenes de compra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Recepción de productos y materiales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Gestión de cotizaciones y propuestas</a:t>
            </a:r>
            <a:endParaRPr lang="en-US" sz="145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2AD07A0F-646E-71C2-FC08-EDBFD0F803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8581" y="6331021"/>
            <a:ext cx="1966536" cy="5120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74576"/>
            <a:ext cx="1153091" cy="219869"/>
          </a:xfrm>
          <a:prstGeom prst="roundRect">
            <a:avLst>
              <a:gd name="adj" fmla="val 7898"/>
            </a:avLst>
          </a:prstGeom>
          <a:solidFill>
            <a:srgbClr val="3D4D00"/>
          </a:solidFill>
          <a:ln/>
        </p:spPr>
      </p:sp>
      <p:sp>
        <p:nvSpPr>
          <p:cNvPr id="3" name="Text 1"/>
          <p:cNvSpPr/>
          <p:nvPr/>
        </p:nvSpPr>
        <p:spPr>
          <a:xfrm>
            <a:off x="748289" y="617934"/>
            <a:ext cx="1589048" cy="133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kern="0" spc="-1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DIFERENCIADORES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838696"/>
            <a:ext cx="10868745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kern="0" spc="-85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Valor diferencial de Handle Kraft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61475" y="1457127"/>
            <a:ext cx="5379010" cy="1331020"/>
          </a:xfrm>
          <a:prstGeom prst="roundRect">
            <a:avLst>
              <a:gd name="adj" fmla="val 1631"/>
            </a:avLst>
          </a:prstGeom>
          <a:solidFill>
            <a:srgbClr val="404040"/>
          </a:solidFill>
          <a:ln/>
        </p:spPr>
      </p:sp>
      <p:sp>
        <p:nvSpPr>
          <p:cNvPr id="6" name="Shape 4"/>
          <p:cNvSpPr/>
          <p:nvPr/>
        </p:nvSpPr>
        <p:spPr>
          <a:xfrm>
            <a:off x="806132" y="1601788"/>
            <a:ext cx="434071" cy="434082"/>
          </a:xfrm>
          <a:prstGeom prst="ellipse">
            <a:avLst/>
          </a:prstGeom>
          <a:solidFill>
            <a:srgbClr val="DCFF50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5489" y="1721148"/>
            <a:ext cx="195357" cy="1953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6132" y="2146598"/>
            <a:ext cx="5089695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kern="0" spc="-43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Cotización automática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06132" y="2439095"/>
            <a:ext cx="5089695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kern="0" spc="-1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Cálculo según producto, tamaño, cantidad y personalización.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51210" y="1457127"/>
            <a:ext cx="5379010" cy="1331020"/>
          </a:xfrm>
          <a:prstGeom prst="roundRect">
            <a:avLst>
              <a:gd name="adj" fmla="val 1631"/>
            </a:avLst>
          </a:prstGeom>
          <a:solidFill>
            <a:srgbClr val="404040"/>
          </a:solidFill>
          <a:ln/>
        </p:spPr>
      </p:sp>
      <p:sp>
        <p:nvSpPr>
          <p:cNvPr id="11" name="Shape 8"/>
          <p:cNvSpPr/>
          <p:nvPr/>
        </p:nvSpPr>
        <p:spPr>
          <a:xfrm>
            <a:off x="6295867" y="1601788"/>
            <a:ext cx="434071" cy="434082"/>
          </a:xfrm>
          <a:prstGeom prst="ellipse">
            <a:avLst/>
          </a:prstGeom>
          <a:solidFill>
            <a:srgbClr val="DCFF50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15225" y="1721148"/>
            <a:ext cx="195357" cy="19536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295867" y="2146598"/>
            <a:ext cx="5089695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kern="0" spc="-43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Mockup personalizado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295867" y="2439095"/>
            <a:ext cx="5089695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kern="0" spc="-1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Visualización previa del logotipo aplicado sobre la bolsa.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61475" y="2898874"/>
            <a:ext cx="5379010" cy="1331020"/>
          </a:xfrm>
          <a:prstGeom prst="roundRect">
            <a:avLst>
              <a:gd name="adj" fmla="val 1631"/>
            </a:avLst>
          </a:prstGeom>
          <a:solidFill>
            <a:srgbClr val="404040"/>
          </a:solidFill>
          <a:ln/>
        </p:spPr>
      </p:sp>
      <p:sp>
        <p:nvSpPr>
          <p:cNvPr id="16" name="Shape 12"/>
          <p:cNvSpPr/>
          <p:nvPr/>
        </p:nvSpPr>
        <p:spPr>
          <a:xfrm>
            <a:off x="806132" y="3043535"/>
            <a:ext cx="434071" cy="434082"/>
          </a:xfrm>
          <a:prstGeom prst="ellipse">
            <a:avLst/>
          </a:prstGeom>
          <a:solidFill>
            <a:srgbClr val="DCFF50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25489" y="3162895"/>
            <a:ext cx="195357" cy="19536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06132" y="3588345"/>
            <a:ext cx="5089695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kern="0" spc="-43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Recomendador de bolsas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06132" y="3880842"/>
            <a:ext cx="5089695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kern="0" spc="-1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Ayuda a seleccionar el producto según rubro o necesidad.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151210" y="2898874"/>
            <a:ext cx="5379010" cy="1331020"/>
          </a:xfrm>
          <a:prstGeom prst="roundRect">
            <a:avLst>
              <a:gd name="adj" fmla="val 1631"/>
            </a:avLst>
          </a:prstGeom>
          <a:solidFill>
            <a:srgbClr val="404040"/>
          </a:solidFill>
          <a:ln/>
        </p:spPr>
      </p:sp>
      <p:sp>
        <p:nvSpPr>
          <p:cNvPr id="21" name="Shape 16"/>
          <p:cNvSpPr/>
          <p:nvPr/>
        </p:nvSpPr>
        <p:spPr>
          <a:xfrm>
            <a:off x="6295867" y="3043535"/>
            <a:ext cx="434071" cy="434082"/>
          </a:xfrm>
          <a:prstGeom prst="ellipse">
            <a:avLst/>
          </a:prstGeom>
          <a:solidFill>
            <a:srgbClr val="DCFF50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15225" y="3162895"/>
            <a:ext cx="195357" cy="19536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295867" y="3588345"/>
            <a:ext cx="5089695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kern="0" spc="-43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Comparador visual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6295867" y="3880842"/>
            <a:ext cx="5089695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kern="0" spc="-1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Comparación de tamaños, modelos y características.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661475" y="4340622"/>
            <a:ext cx="5379010" cy="1331020"/>
          </a:xfrm>
          <a:prstGeom prst="roundRect">
            <a:avLst>
              <a:gd name="adj" fmla="val 1631"/>
            </a:avLst>
          </a:prstGeom>
          <a:solidFill>
            <a:srgbClr val="404040"/>
          </a:solidFill>
          <a:ln/>
        </p:spPr>
      </p:sp>
      <p:sp>
        <p:nvSpPr>
          <p:cNvPr id="26" name="Shape 20"/>
          <p:cNvSpPr/>
          <p:nvPr/>
        </p:nvSpPr>
        <p:spPr>
          <a:xfrm>
            <a:off x="806132" y="4485283"/>
            <a:ext cx="434071" cy="434082"/>
          </a:xfrm>
          <a:prstGeom prst="ellipse">
            <a:avLst/>
          </a:prstGeom>
          <a:solidFill>
            <a:srgbClr val="DCFF50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25489" y="4604643"/>
            <a:ext cx="195357" cy="19536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06132" y="5030093"/>
            <a:ext cx="5089695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kern="0" spc="-43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Historial de diseños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806132" y="5322590"/>
            <a:ext cx="5089695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kern="0" spc="-1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Reutilización de diseños anteriores de forma sencilla.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6151210" y="4340622"/>
            <a:ext cx="5379010" cy="1331020"/>
          </a:xfrm>
          <a:prstGeom prst="roundRect">
            <a:avLst>
              <a:gd name="adj" fmla="val 1631"/>
            </a:avLst>
          </a:prstGeom>
          <a:solidFill>
            <a:srgbClr val="404040"/>
          </a:solidFill>
          <a:ln/>
        </p:spPr>
      </p:sp>
      <p:sp>
        <p:nvSpPr>
          <p:cNvPr id="31" name="Shape 24"/>
          <p:cNvSpPr/>
          <p:nvPr/>
        </p:nvSpPr>
        <p:spPr>
          <a:xfrm>
            <a:off x="6295867" y="4485283"/>
            <a:ext cx="434071" cy="434082"/>
          </a:xfrm>
          <a:prstGeom prst="ellipse">
            <a:avLst/>
          </a:prstGeom>
          <a:solidFill>
            <a:srgbClr val="DCFF50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15225" y="4604643"/>
            <a:ext cx="195357" cy="19536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295867" y="5030093"/>
            <a:ext cx="5089695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kern="0" spc="-43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Aprobación digital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6295867" y="5322590"/>
            <a:ext cx="5089695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kern="0" spc="-1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Confirmación del diseño antes de iniciar la producción.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661475" y="5796260"/>
            <a:ext cx="10868745" cy="487065"/>
          </a:xfrm>
          <a:prstGeom prst="roundRect">
            <a:avLst>
              <a:gd name="adj" fmla="val 4457"/>
            </a:avLst>
          </a:prstGeom>
          <a:solidFill>
            <a:srgbClr val="668000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6132" y="5956201"/>
            <a:ext cx="180871" cy="144661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131661" y="5943104"/>
            <a:ext cx="10863487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kern="0" spc="-1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Las funcionalidades avanzadas serán priorizadas según su valor para el negocio y factibilidad técnica.</a:t>
            </a:r>
            <a:endParaRPr lang="en-US" sz="1100" dirty="0"/>
          </a:p>
        </p:txBody>
      </p:sp>
      <p:pic>
        <p:nvPicPr>
          <p:cNvPr id="39" name="Imagen 38">
            <a:extLst>
              <a:ext uri="{FF2B5EF4-FFF2-40B4-BE49-F238E27FC236}">
                <a16:creationId xmlns:a16="http://schemas.microsoft.com/office/drawing/2014/main" id="{CC1AB44D-0301-A481-0DA7-E879A9A79A6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218581" y="6331021"/>
            <a:ext cx="1966536" cy="5120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33102"/>
            <a:ext cx="1027484" cy="260152"/>
          </a:xfrm>
          <a:prstGeom prst="roundRect">
            <a:avLst>
              <a:gd name="adj" fmla="val 7901"/>
            </a:avLst>
          </a:prstGeom>
          <a:solidFill>
            <a:srgbClr val="3D4D00"/>
          </a:solidFill>
          <a:ln/>
        </p:spPr>
      </p:sp>
      <p:sp>
        <p:nvSpPr>
          <p:cNvPr id="3" name="Text 1"/>
          <p:cNvSpPr/>
          <p:nvPr/>
        </p:nvSpPr>
        <p:spPr>
          <a:xfrm>
            <a:off x="764164" y="584398"/>
            <a:ext cx="1431691" cy="157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DESARROLLO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855266"/>
            <a:ext cx="10868745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50" kern="0" spc="-101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MVP y desarrollo ágil</a:t>
            </a:r>
            <a:endParaRPr lang="en-US" sz="3350" dirty="0"/>
          </a:p>
        </p:txBody>
      </p:sp>
      <p:sp>
        <p:nvSpPr>
          <p:cNvPr id="5" name="Text 3"/>
          <p:cNvSpPr/>
          <p:nvPr/>
        </p:nvSpPr>
        <p:spPr>
          <a:xfrm>
            <a:off x="661475" y="2194024"/>
            <a:ext cx="3532397" cy="535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kern="0" spc="-51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MVP — Primera versión funcional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61475" y="2884388"/>
            <a:ext cx="3532397" cy="21543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Gestión de usuarios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Catálogo y productos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Cotización básica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Carrito y generación de pedido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Gestión y estados de pedidos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Panel administrativo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Inventario básico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618120" y="1778496"/>
            <a:ext cx="6918350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kern="0" spc="-51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Metodología Scrum</a:t>
            </a:r>
            <a:endParaRPr lang="en-US" sz="16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8120" y="2220714"/>
            <a:ext cx="6918350" cy="27122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783741" y="2353728"/>
            <a:ext cx="1266467" cy="203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50" kern="0" spc="-38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Backlog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0104258" y="2353728"/>
            <a:ext cx="1266467" cy="203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0" spc="-38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Sprint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0104258" y="4596335"/>
            <a:ext cx="1266467" cy="203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0" spc="-38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Desarrollo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783741" y="4596335"/>
            <a:ext cx="1266467" cy="203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50" kern="0" spc="-38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Validación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618120" y="5107583"/>
            <a:ext cx="7527935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Entregas incrementales con validaciones periódicas y retroalimentación continua del cliente.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61475" y="5683151"/>
            <a:ext cx="10868745" cy="641648"/>
          </a:xfrm>
          <a:prstGeom prst="roundRect">
            <a:avLst>
              <a:gd name="adj" fmla="val 4004"/>
            </a:avLst>
          </a:prstGeom>
          <a:solidFill>
            <a:srgbClr val="668000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722" y="5908973"/>
            <a:ext cx="214109" cy="17125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18078" y="5881092"/>
            <a:ext cx="10750479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kern="0" spc="-13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Primero se construirá una base funcional estable y posteriormente se incorporarán funcionalidades de mayor complejidad.</a:t>
            </a:r>
            <a:endParaRPr lang="en-US" sz="1300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B4BDD4EB-ACD3-01F0-848C-72D3B68E30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8581" y="6340352"/>
            <a:ext cx="1966536" cy="5120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40941"/>
            <a:ext cx="1628040" cy="260152"/>
          </a:xfrm>
          <a:prstGeom prst="roundRect">
            <a:avLst>
              <a:gd name="adj" fmla="val 7901"/>
            </a:avLst>
          </a:prstGeom>
          <a:solidFill>
            <a:srgbClr val="3D4D00"/>
          </a:solidFill>
          <a:ln/>
        </p:spPr>
      </p:sp>
      <p:sp>
        <p:nvSpPr>
          <p:cNvPr id="3" name="Text 1"/>
          <p:cNvSpPr/>
          <p:nvPr/>
        </p:nvSpPr>
        <p:spPr>
          <a:xfrm>
            <a:off x="764164" y="592237"/>
            <a:ext cx="2032247" cy="157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RESULTADO ESPERADO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863104"/>
            <a:ext cx="10868745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50" kern="0" spc="-101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Resultado esperado</a:t>
            </a:r>
            <a:endParaRPr lang="en-US" sz="3350" dirty="0"/>
          </a:p>
        </p:txBody>
      </p:sp>
      <p:sp>
        <p:nvSpPr>
          <p:cNvPr id="5" name="Text 3"/>
          <p:cNvSpPr/>
          <p:nvPr/>
        </p:nvSpPr>
        <p:spPr>
          <a:xfrm>
            <a:off x="661475" y="1631156"/>
            <a:ext cx="10868745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Handle Kraft contará con una </a:t>
            </a:r>
            <a:r>
              <a:rPr lang="en-US" sz="1300" b="1" kern="0" spc="-13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plataforma web centralizada</a:t>
            </a:r>
            <a:r>
              <a:rPr lang="en-US" sz="130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que permitirá gestionar de forma más eficiente sus procesos comerciales y operacionales, reducir tareas manuales y entregar una experiencia de compra más autónoma.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61475" y="2328267"/>
            <a:ext cx="5356786" cy="964406"/>
          </a:xfrm>
          <a:prstGeom prst="roundRect">
            <a:avLst>
              <a:gd name="adj" fmla="val 2664"/>
            </a:avLst>
          </a:prstGeom>
          <a:solidFill>
            <a:srgbClr val="404040"/>
          </a:solidFill>
          <a:ln/>
        </p:spPr>
      </p:sp>
      <p:sp>
        <p:nvSpPr>
          <p:cNvPr id="7" name="Text 5"/>
          <p:cNvSpPr/>
          <p:nvPr/>
        </p:nvSpPr>
        <p:spPr>
          <a:xfrm>
            <a:off x="832722" y="2499519"/>
            <a:ext cx="5014291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kern="0" spc="-51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Centralización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32722" y="2860179"/>
            <a:ext cx="5014291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Toda la información en un único sistema.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3435" y="2328267"/>
            <a:ext cx="5356786" cy="964406"/>
          </a:xfrm>
          <a:prstGeom prst="roundRect">
            <a:avLst>
              <a:gd name="adj" fmla="val 2664"/>
            </a:avLst>
          </a:prstGeom>
          <a:solidFill>
            <a:srgbClr val="404040"/>
          </a:solidFill>
          <a:ln/>
        </p:spPr>
      </p:sp>
      <p:sp>
        <p:nvSpPr>
          <p:cNvPr id="10" name="Text 8"/>
          <p:cNvSpPr/>
          <p:nvPr/>
        </p:nvSpPr>
        <p:spPr>
          <a:xfrm>
            <a:off x="6344682" y="2499519"/>
            <a:ext cx="5014291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kern="0" spc="-51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Menores tiempos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344682" y="2860179"/>
            <a:ext cx="5014291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Reducción de gestión manual y operativa.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1475" y="3447852"/>
            <a:ext cx="5356786" cy="964406"/>
          </a:xfrm>
          <a:prstGeom prst="roundRect">
            <a:avLst>
              <a:gd name="adj" fmla="val 2664"/>
            </a:avLst>
          </a:prstGeom>
          <a:solidFill>
            <a:srgbClr val="404040"/>
          </a:solidFill>
          <a:ln/>
        </p:spPr>
      </p:sp>
      <p:sp>
        <p:nvSpPr>
          <p:cNvPr id="13" name="Text 11"/>
          <p:cNvSpPr/>
          <p:nvPr/>
        </p:nvSpPr>
        <p:spPr>
          <a:xfrm>
            <a:off x="832722" y="3619103"/>
            <a:ext cx="5014291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kern="0" spc="-51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Trazabilidad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832722" y="3979763"/>
            <a:ext cx="5014291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Seguimiento completo de pedidos y operaciones.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73435" y="3447852"/>
            <a:ext cx="5356786" cy="964406"/>
          </a:xfrm>
          <a:prstGeom prst="roundRect">
            <a:avLst>
              <a:gd name="adj" fmla="val 2664"/>
            </a:avLst>
          </a:prstGeom>
          <a:solidFill>
            <a:srgbClr val="404040"/>
          </a:solidFill>
          <a:ln/>
        </p:spPr>
      </p:sp>
      <p:sp>
        <p:nvSpPr>
          <p:cNvPr id="16" name="Text 14"/>
          <p:cNvSpPr/>
          <p:nvPr/>
        </p:nvSpPr>
        <p:spPr>
          <a:xfrm>
            <a:off x="6344682" y="3619103"/>
            <a:ext cx="5014291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kern="0" spc="-51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Autonomía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344682" y="3979763"/>
            <a:ext cx="5014291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cliente gestiona su pedido de forma independiente.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61475" y="4567436"/>
            <a:ext cx="5356786" cy="964406"/>
          </a:xfrm>
          <a:prstGeom prst="roundRect">
            <a:avLst>
              <a:gd name="adj" fmla="val 2664"/>
            </a:avLst>
          </a:prstGeom>
          <a:solidFill>
            <a:srgbClr val="404040"/>
          </a:solidFill>
          <a:ln/>
        </p:spPr>
      </p:sp>
      <p:sp>
        <p:nvSpPr>
          <p:cNvPr id="19" name="Text 17"/>
          <p:cNvSpPr/>
          <p:nvPr/>
        </p:nvSpPr>
        <p:spPr>
          <a:xfrm>
            <a:off x="832722" y="4738688"/>
            <a:ext cx="5014291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kern="0" spc="-51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Control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832722" y="5099348"/>
            <a:ext cx="5014291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Mejor gestión de inventario y operación interna.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73435" y="4567436"/>
            <a:ext cx="5356786" cy="964406"/>
          </a:xfrm>
          <a:prstGeom prst="roundRect">
            <a:avLst>
              <a:gd name="adj" fmla="val 2664"/>
            </a:avLst>
          </a:prstGeom>
          <a:solidFill>
            <a:srgbClr val="404040"/>
          </a:solidFill>
          <a:ln/>
        </p:spPr>
      </p:sp>
      <p:sp>
        <p:nvSpPr>
          <p:cNvPr id="22" name="Text 20"/>
          <p:cNvSpPr/>
          <p:nvPr/>
        </p:nvSpPr>
        <p:spPr>
          <a:xfrm>
            <a:off x="6344682" y="4738688"/>
            <a:ext cx="5014291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kern="0" spc="-51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Escalabilidad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344682" y="5099348"/>
            <a:ext cx="5014291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Base tecnológica preparada para el crecimiento.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8346" y="5881092"/>
            <a:ext cx="11221459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i="1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"Digitalizar la operación para acompañar el crecimiento de Handle Kraft."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61475" y="5706467"/>
            <a:ext cx="19050" cy="610493"/>
          </a:xfrm>
          <a:prstGeom prst="roundRect">
            <a:avLst>
              <a:gd name="adj" fmla="val 49999"/>
            </a:avLst>
          </a:prstGeom>
          <a:solidFill>
            <a:srgbClr val="DCFF50"/>
          </a:solidFill>
          <a:ln/>
        </p:spPr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B4E0DB45-45BB-2524-1AB0-981CBB134E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8581" y="6331021"/>
            <a:ext cx="1966536" cy="5120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647</Words>
  <Application>Microsoft Office PowerPoint</Application>
  <PresentationFormat>Panorámica</PresentationFormat>
  <Paragraphs>122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Arial</vt:lpstr>
      <vt:lpstr>Roboto Mono Medium</vt:lpstr>
      <vt:lpstr>Roboto Bold</vt:lpstr>
      <vt:lpstr>Roboto</vt:lpstr>
      <vt:lpstr>Twemoji Mozilla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SSDD</dc:creator>
  <cp:lastModifiedBy>SSDD</cp:lastModifiedBy>
  <cp:revision>2</cp:revision>
  <dcterms:created xsi:type="dcterms:W3CDTF">2026-09-12T12:17:35Z</dcterms:created>
  <dcterms:modified xsi:type="dcterms:W3CDTF">2026-09-12T12:24:06Z</dcterms:modified>
</cp:coreProperties>
</file>